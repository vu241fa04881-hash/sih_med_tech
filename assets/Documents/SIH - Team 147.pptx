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7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FFA3"/>
    <a:srgbClr val="66FF99"/>
    <a:srgbClr val="99FF99"/>
    <a:srgbClr val="FFFF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601FF-598D-43DA-9EA4-C50C1776A650}" v="14" dt="2026-09-10T07:22:42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464888" y="3006007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25084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1694" y="-641097"/>
            <a:ext cx="10104942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2064" y="1035583"/>
            <a:ext cx="115913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SIH26113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augmentation technologies are transforming healthcare, rehabilitation, industrial ergonomics, assistive living, sports, and personal mobility by improving human capabilities and enhancing quality of life.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augmentation enhances human abilities and quality of life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BioTech / HealthTech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– 147</a:t>
            </a: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BERSERK TECHIES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04720" y="-47892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24" y="3708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Berserk </a:t>
            </a:r>
          </a:p>
          <a:p>
            <a:pPr algn="ctr"/>
            <a:r>
              <a:rPr lang="en-US" b="1" dirty="0"/>
              <a:t>Techies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39FB596-9EB7-39C4-F725-5A883017B588}"/>
              </a:ext>
            </a:extLst>
          </p:cNvPr>
          <p:cNvSpPr/>
          <p:nvPr/>
        </p:nvSpPr>
        <p:spPr>
          <a:xfrm>
            <a:off x="113457" y="1066824"/>
            <a:ext cx="7060073" cy="26089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01963-3AD9-5D95-FEC2-277F5A340E1F}"/>
              </a:ext>
            </a:extLst>
          </p:cNvPr>
          <p:cNvSpPr txBox="1"/>
          <p:nvPr/>
        </p:nvSpPr>
        <p:spPr>
          <a:xfrm>
            <a:off x="161137" y="1148623"/>
            <a:ext cx="492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Explanation of the Problem 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ED833-22AA-2BFC-D050-54ED5368FAAF}"/>
              </a:ext>
            </a:extLst>
          </p:cNvPr>
          <p:cNvSpPr txBox="1"/>
          <p:nvPr/>
        </p:nvSpPr>
        <p:spPr>
          <a:xfrm>
            <a:off x="161137" y="1649910"/>
            <a:ext cx="706007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After a </a:t>
            </a:r>
            <a:r>
              <a:rPr lang="en-IN" b="1" dirty="0"/>
              <a:t>stroke</a:t>
            </a:r>
            <a:r>
              <a:rPr lang="en-IN" dirty="0"/>
              <a:t> or other </a:t>
            </a:r>
            <a:r>
              <a:rPr lang="en-IN" b="1" dirty="0"/>
              <a:t>neurological</a:t>
            </a:r>
            <a:r>
              <a:rPr lang="en-IN" dirty="0"/>
              <a:t> conditions, weakness or poor control in parts of the body can make everyday movements difficult.</a:t>
            </a:r>
          </a:p>
          <a:p>
            <a:pPr lvl="0"/>
            <a:r>
              <a:rPr lang="en-IN" sz="800" dirty="0"/>
              <a:t> 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Reduced strength, coordination, or balance can make it difficult to </a:t>
            </a:r>
            <a:r>
              <a:rPr lang="en-IN" b="1" dirty="0"/>
              <a:t>perform movements steadily and safely. </a:t>
            </a:r>
          </a:p>
          <a:p>
            <a:pPr lvl="0"/>
            <a:r>
              <a:rPr lang="en-IN" sz="8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Different people need different levels of support, and their needs can change as they improve during rehabilitation.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3412CAA-0A32-4482-8D0C-DA1435C109E4}"/>
              </a:ext>
            </a:extLst>
          </p:cNvPr>
          <p:cNvSpPr/>
          <p:nvPr/>
        </p:nvSpPr>
        <p:spPr>
          <a:xfrm>
            <a:off x="161137" y="3836647"/>
            <a:ext cx="7060073" cy="238159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F47E3E-A3F0-8C7C-66A1-E7F898E2DAEB}"/>
              </a:ext>
            </a:extLst>
          </p:cNvPr>
          <p:cNvSpPr txBox="1"/>
          <p:nvPr/>
        </p:nvSpPr>
        <p:spPr>
          <a:xfrm>
            <a:off x="209128" y="3839070"/>
            <a:ext cx="289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:</a:t>
            </a:r>
            <a:endParaRPr lang="en-IN" sz="2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5A105-834D-847E-A25D-C7A33588957F}"/>
              </a:ext>
            </a:extLst>
          </p:cNvPr>
          <p:cNvSpPr txBox="1"/>
          <p:nvPr/>
        </p:nvSpPr>
        <p:spPr>
          <a:xfrm>
            <a:off x="209127" y="4283815"/>
            <a:ext cx="69644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Movement Tracking:</a:t>
            </a:r>
            <a:r>
              <a:rPr lang="en-IN" dirty="0"/>
              <a:t> Sensors track leg movement, knee angle, and gait in real time. </a:t>
            </a:r>
          </a:p>
          <a:p>
            <a:pPr lvl="0"/>
            <a:r>
              <a:rPr lang="en-IN" b="1" dirty="0"/>
              <a:t>Adaptive Assistance:</a:t>
            </a:r>
            <a:r>
              <a:rPr lang="en-IN" dirty="0"/>
              <a:t> The system estimates required effort and user contribution, then provides the needed support within safety limits. </a:t>
            </a:r>
          </a:p>
          <a:p>
            <a:pPr lvl="0"/>
            <a:r>
              <a:rPr lang="en-IN" b="1" dirty="0"/>
              <a:t>User-Driven Recovery:</a:t>
            </a:r>
            <a:r>
              <a:rPr lang="en-IN" dirty="0"/>
              <a:t> The user performs the movement, while assistance automatically adjusts according to their performance.</a:t>
            </a:r>
          </a:p>
          <a:p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285119B-566E-C8EA-2AA1-4F8F1582CAC7}"/>
              </a:ext>
            </a:extLst>
          </p:cNvPr>
          <p:cNvSpPr/>
          <p:nvPr/>
        </p:nvSpPr>
        <p:spPr>
          <a:xfrm>
            <a:off x="7577860" y="3836647"/>
            <a:ext cx="4452076" cy="238159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1C8B3A8-3233-5954-F322-F7481F7C4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7860" y="1054399"/>
            <a:ext cx="4309340" cy="2699092"/>
          </a:xfrm>
          <a:prstGeom prst="round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305EAE-CB63-99D5-9E0B-DB3A60B6D115}"/>
              </a:ext>
            </a:extLst>
          </p:cNvPr>
          <p:cNvSpPr txBox="1"/>
          <p:nvPr/>
        </p:nvSpPr>
        <p:spPr>
          <a:xfrm>
            <a:off x="7549420" y="4253037"/>
            <a:ext cx="46124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Existing systems:</a:t>
            </a:r>
            <a:r>
              <a:rPr lang="en-IN" sz="1600" dirty="0"/>
              <a:t> Often use fixed assistance and can be heavy or expensive.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MoveAssist:</a:t>
            </a:r>
            <a:r>
              <a:rPr lang="en-IN" sz="1600" dirty="0"/>
              <a:t> Provides </a:t>
            </a:r>
            <a:r>
              <a:rPr lang="en-IN" sz="1600" b="1" dirty="0"/>
              <a:t>adaptive, assist-as-needed support</a:t>
            </a:r>
            <a:r>
              <a:rPr lang="en-IN" sz="1600" dirty="0"/>
              <a:t> based on the user’s movement and contribution.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Key Focus:</a:t>
            </a:r>
            <a:r>
              <a:rPr lang="en-IN" sz="1600" dirty="0"/>
              <a:t> </a:t>
            </a:r>
            <a:r>
              <a:rPr lang="en-IN" sz="1600" b="1" dirty="0"/>
              <a:t>Lightweight, adjustable, user-driven rehabilitation.</a:t>
            </a:r>
            <a:endParaRPr lang="en-IN" sz="1600" dirty="0"/>
          </a:p>
          <a:p>
            <a:endParaRPr lang="en-IN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580061-F662-7EF0-EB0A-11A9E9C6B7B9}"/>
              </a:ext>
            </a:extLst>
          </p:cNvPr>
          <p:cNvSpPr txBox="1"/>
          <p:nvPr/>
        </p:nvSpPr>
        <p:spPr>
          <a:xfrm>
            <a:off x="7577860" y="3914483"/>
            <a:ext cx="345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Innovation and Uniqueness :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0980" y="-19264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8EE6413-BB92-2A26-26D4-12192A08525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24" y="3708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Berserk </a:t>
            </a:r>
          </a:p>
          <a:p>
            <a:pPr algn="ctr"/>
            <a:r>
              <a:rPr lang="en-US" b="1" dirty="0"/>
              <a:t>Techies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A6937C-C7B2-53D3-2DA0-59E21A19AECE}"/>
                  </a:ext>
                </a:extLst>
              </p:cNvPr>
              <p:cNvSpPr txBox="1"/>
              <p:nvPr/>
            </p:nvSpPr>
            <p:spPr>
              <a:xfrm>
                <a:off x="162064" y="861716"/>
                <a:ext cx="5486400" cy="6225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Calculations Used</a:t>
                </a:r>
              </a:p>
              <a:p>
                <a:r>
                  <a:rPr lang="en-IN" sz="800" b="1" dirty="0"/>
                  <a:t> </a:t>
                </a:r>
              </a:p>
              <a:p>
                <a:r>
                  <a:rPr lang="en-IN" sz="1400" b="1" dirty="0"/>
                  <a:t>1. Gravitational Force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/>
                          </m:ctrlPr>
                        </m:sSubPr>
                        <m:e>
                          <m:r>
                            <a:rPr lang="en-IN" sz="1400" i="1"/>
                            <m:t>𝐹</m:t>
                          </m:r>
                        </m:e>
                        <m:sub>
                          <m:r>
                            <a:rPr lang="en-IN" sz="1400" i="1"/>
                            <m:t>𝑔</m:t>
                          </m:r>
                        </m:sub>
                      </m:sSub>
                      <m:r>
                        <a:rPr lang="en-IN" sz="1400"/>
                        <m:t>=</m:t>
                      </m:r>
                      <m:r>
                        <a:rPr lang="en-IN" sz="1400" i="1"/>
                        <m:t>𝑚𝑔</m:t>
                      </m:r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2. Gravitational Torque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/>
                          </m:ctrlPr>
                        </m:sSubPr>
                        <m:e>
                          <m:r>
                            <a:rPr lang="en-IN" sz="1400" i="1"/>
                            <m:t>𝜏</m:t>
                          </m:r>
                        </m:e>
                        <m:sub>
                          <m:r>
                            <a:rPr lang="en-IN" sz="1400" i="1"/>
                            <m:t>𝑔</m:t>
                          </m:r>
                        </m:sub>
                      </m:sSub>
                      <m:r>
                        <a:rPr lang="en-IN" sz="1400"/>
                        <m:t>=</m:t>
                      </m:r>
                      <m:r>
                        <a:rPr lang="en-IN" sz="1400" i="1"/>
                        <m:t>𝑚𝑔𝑟</m:t>
                      </m:r>
                      <m:r>
                        <m:rPr>
                          <m:sty m:val="p"/>
                        </m:rPr>
                        <a:rPr lang="en-IN" sz="1400"/>
                        <m:t>sin</m:t>
                      </m:r>
                      <m:r>
                        <a:rPr lang="en-IN" sz="1400"/>
                        <m:t>⁡</m:t>
                      </m:r>
                      <m:d>
                        <m:dPr>
                          <m:ctrlPr>
                            <a:rPr lang="en-IN" sz="1400" i="1"/>
                          </m:ctrlPr>
                        </m:dPr>
                        <m:e>
                          <m:r>
                            <a:rPr lang="en-IN" sz="1400" i="1"/>
                            <m:t>𝜃</m:t>
                          </m:r>
                        </m:e>
                      </m:d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3. Angular Velocity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 sz="1400" i="1"/>
                        <m:t>𝜔</m:t>
                      </m:r>
                      <m:r>
                        <a:rPr lang="en-IN" sz="1400"/>
                        <m:t>=</m:t>
                      </m:r>
                      <m:f>
                        <m:fPr>
                          <m:ctrlPr>
                            <a:rPr lang="en-IN" sz="1400" i="1"/>
                          </m:ctrlPr>
                        </m:fPr>
                        <m:num>
                          <m:r>
                            <a:rPr lang="en-IN" sz="1400" i="1"/>
                            <m:t>𝑑</m:t>
                          </m:r>
                          <m:r>
                            <a:rPr lang="en-IN" sz="1400" i="1"/>
                            <m:t>𝜃</m:t>
                          </m:r>
                        </m:num>
                        <m:den>
                          <m:r>
                            <a:rPr lang="en-IN" sz="1400" i="1"/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4. Angular Acceleration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 sz="1400" i="1"/>
                        <m:t>𝛼</m:t>
                      </m:r>
                      <m:r>
                        <a:rPr lang="en-IN" sz="1400"/>
                        <m:t>=</m:t>
                      </m:r>
                      <m:f>
                        <m:fPr>
                          <m:ctrlPr>
                            <a:rPr lang="en-IN" sz="1400" i="1"/>
                          </m:ctrlPr>
                        </m:fPr>
                        <m:num>
                          <m:r>
                            <a:rPr lang="en-IN" sz="1400" i="1"/>
                            <m:t>𝑑</m:t>
                          </m:r>
                          <m:r>
                            <a:rPr lang="en-IN" sz="1400" i="1"/>
                            <m:t>𝜔</m:t>
                          </m:r>
                        </m:num>
                        <m:den>
                          <m:r>
                            <a:rPr lang="en-IN" sz="1400" i="1"/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5. Inertial Torque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/>
                          </m:ctrlPr>
                        </m:sSubPr>
                        <m:e>
                          <m:r>
                            <a:rPr lang="en-IN" sz="1400" i="1"/>
                            <m:t>𝜏</m:t>
                          </m:r>
                        </m:e>
                        <m:sub>
                          <m:r>
                            <a:rPr lang="en-IN" sz="1400" i="1"/>
                            <m:t>𝑖</m:t>
                          </m:r>
                        </m:sub>
                      </m:sSub>
                      <m:r>
                        <a:rPr lang="en-IN" sz="1400"/>
                        <m:t>=</m:t>
                      </m:r>
                      <m:r>
                        <a:rPr lang="en-IN" sz="1400" i="1"/>
                        <m:t>𝐼</m:t>
                      </m:r>
                      <m:r>
                        <a:rPr lang="en-IN" sz="1400" i="1"/>
                        <m:t>𝛼</m:t>
                      </m:r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6. Required Torque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400"/>
                          </m:ctrlPr>
                        </m:borderBoxPr>
                        <m:e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𝑟𝑒𝑞</m:t>
                              </m:r>
                            </m:sub>
                          </m:sSub>
                          <m:r>
                            <a:rPr lang="en-IN" sz="1400"/>
                            <m:t>=</m:t>
                          </m:r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𝑔</m:t>
                              </m:r>
                            </m:sub>
                          </m:sSub>
                          <m:r>
                            <a:rPr lang="en-IN" sz="1400"/>
                            <m:t>+</m:t>
                          </m:r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𝑖</m:t>
                              </m:r>
                            </m:sub>
                          </m:sSub>
                          <m:r>
                            <a:rPr lang="en-IN" sz="1400"/>
                            <m:t>+</m:t>
                          </m:r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𝑒𝑥𝑡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7. Assistance Deficit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400"/>
                          </m:ctrlPr>
                        </m:borderBoxPr>
                        <m:e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𝑑𝑒𝑓</m:t>
                              </m:r>
                            </m:sub>
                          </m:sSub>
                          <m:r>
                            <a:rPr lang="en-IN" sz="1400"/>
                            <m:t>=</m:t>
                          </m:r>
                          <m:r>
                            <m:rPr>
                              <m:sty m:val="p"/>
                            </m:rPr>
                            <a:rPr lang="en-IN" sz="1400"/>
                            <m:t>max</m:t>
                          </m:r>
                          <m:r>
                            <a:rPr lang="en-IN" sz="1400"/>
                            <m:t>⁡</m:t>
                          </m:r>
                          <m:d>
                            <m:dPr>
                              <m:sepChr m:val=","/>
                              <m:ctrlPr>
                                <a:rPr lang="en-IN" sz="1400"/>
                              </m:ctrlPr>
                            </m:dPr>
                            <m:e>
                              <m:r>
                                <a:rPr lang="en-IN" sz="1400"/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IN" sz="1400" i="1"/>
                                  </m:ctrlPr>
                                </m:sSubPr>
                                <m:e>
                                  <m:r>
                                    <a:rPr lang="en-IN" sz="1400" i="1"/>
                                    <m:t>𝜏</m:t>
                                  </m:r>
                                </m:e>
                                <m:sub>
                                  <m:r>
                                    <a:rPr lang="en-IN" sz="1400" i="1"/>
                                    <m:t>𝑟𝑒𝑞</m:t>
                                  </m:r>
                                </m:sub>
                              </m:sSub>
                              <m:r>
                                <a:rPr lang="en-IN" sz="1400"/>
                                <m:t>−</m:t>
                              </m:r>
                              <m:sSub>
                                <m:sSubPr>
                                  <m:ctrlPr>
                                    <a:rPr lang="en-IN" sz="1400" i="1"/>
                                  </m:ctrlPr>
                                </m:sSubPr>
                                <m:e>
                                  <m:r>
                                    <a:rPr lang="en-IN" sz="1400" i="1"/>
                                    <m:t>𝜏</m:t>
                                  </m:r>
                                </m:e>
                                <m:sub>
                                  <m:r>
                                    <a:rPr lang="en-IN" sz="1400" i="1"/>
                                    <m:t>𝑢𝑠𝑒𝑟</m:t>
                                  </m:r>
                                </m:sub>
                              </m:sSub>
                            </m:e>
                          </m:d>
                        </m:e>
                      </m:borderBox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8. Assistance Torque</a:t>
                </a:r>
                <a:endParaRPr lang="en-IN" sz="1400" dirty="0"/>
              </a:p>
              <a:p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400"/>
                          </m:ctrlPr>
                        </m:borderBoxPr>
                        <m:e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𝑎𝑠𝑠𝑖𝑠𝑡</m:t>
                              </m:r>
                            </m:sub>
                          </m:sSub>
                          <m:r>
                            <a:rPr lang="en-IN" sz="1400"/>
                            <m:t>=</m:t>
                          </m:r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𝐾</m:t>
                              </m:r>
                            </m:e>
                            <m:sub>
                              <m:r>
                                <a:rPr lang="en-IN" sz="1400" i="1"/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400" i="1"/>
                              </m:ctrlPr>
                            </m:sSubPr>
                            <m:e>
                              <m:r>
                                <a:rPr lang="en-IN" sz="1400" i="1"/>
                                <m:t>𝜏</m:t>
                              </m:r>
                            </m:e>
                            <m:sub>
                              <m:r>
                                <a:rPr lang="en-IN" sz="1400" i="1"/>
                                <m:t>𝑑𝑒𝑓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9. User Contribution</a:t>
                </a:r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IN" sz="1400"/>
                          </m:ctrlPr>
                        </m:borderBoxPr>
                        <m:e>
                          <m:r>
                            <m:rPr>
                              <m:nor/>
                            </m:rPr>
                            <a:rPr lang="en-IN" sz="1400"/>
                            <m:t>User Contribution</m:t>
                          </m:r>
                          <m:r>
                            <a:rPr lang="en-IN" sz="140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𝑢𝑠𝑒𝑟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IN" sz="1400" i="1">
                                      <a:latin typeface="Cambria Math" panose="02040503050406030204" pitchFamily="18" charset="0"/>
                                    </a:rPr>
                                    <m:t>𝑟𝑒𝑞</m:t>
                                  </m:r>
                                </m:sub>
                              </m:sSub>
                            </m:den>
                          </m:f>
                          <m:r>
                            <a:rPr lang="en-IN" sz="1400">
                              <a:latin typeface="Cambria Math" panose="02040503050406030204" pitchFamily="18" charset="0"/>
                            </a:rPr>
                            <m:t>×100</m:t>
                          </m:r>
                        </m:e>
                      </m:borderBox>
                    </m:oMath>
                  </m:oMathPara>
                </a14:m>
                <a:endParaRPr lang="en-IN" sz="1400" dirty="0"/>
              </a:p>
              <a:p>
                <a:r>
                  <a:rPr lang="en-IN" sz="1400" b="1" dirty="0"/>
                  <a:t>Safety:</a:t>
                </a:r>
                <a:endParaRPr lang="en-IN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IN" sz="1400" i="1">
                              <a:latin typeface="Cambria Math" panose="02040503050406030204" pitchFamily="18" charset="0"/>
                            </a:rPr>
                            <m:t>𝑠𝑎𝑓𝑒</m:t>
                          </m:r>
                        </m:sub>
                      </m:sSub>
                      <m:r>
                        <a:rPr lang="en-IN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1400" i="1">
                          <a:latin typeface="Cambria Math" panose="02040503050406030204" pitchFamily="18" charset="0"/>
                        </a:rPr>
                        <m:t>𝑐𝑙𝑖𝑝</m:t>
                      </m:r>
                      <m:d>
                        <m:dPr>
                          <m:sepChr m:val=","/>
                          <m:ctrlPr>
                            <a:rPr lang="en-IN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𝑎𝑠𝑠𝑖𝑠𝑡</m:t>
                              </m:r>
                            </m:sub>
                          </m:sSub>
                        </m:e>
                        <m:e>
                          <m:r>
                            <a:rPr lang="en-IN" sz="1400"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IN" sz="14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IN" sz="1400" i="1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400" dirty="0"/>
              </a:p>
              <a:p>
                <a:endParaRPr lang="en-IN" sz="1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A6937C-C7B2-53D3-2DA0-59E21A19A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64" y="861716"/>
                <a:ext cx="5486400" cy="6225230"/>
              </a:xfrm>
              <a:prstGeom prst="rect">
                <a:avLst/>
              </a:prstGeom>
              <a:blipFill>
                <a:blip r:embed="rId4"/>
                <a:stretch>
                  <a:fillRect l="-1000" t="-4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8A6E6C8-C998-10F3-081D-D920994354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0" r="26837"/>
          <a:stretch>
            <a:fillRect/>
          </a:stretch>
        </p:blipFill>
        <p:spPr>
          <a:xfrm>
            <a:off x="4915091" y="1294982"/>
            <a:ext cx="6597613" cy="4800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721107-C04D-F09C-DF4A-FC15CA05D125}"/>
              </a:ext>
            </a:extLst>
          </p:cNvPr>
          <p:cNvSpPr txBox="1"/>
          <p:nvPr/>
        </p:nvSpPr>
        <p:spPr>
          <a:xfrm>
            <a:off x="3951149" y="787786"/>
            <a:ext cx="2799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Fusion Model :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E256E11F-F6B2-CE5D-D84D-3FDE3BED662E}"/>
              </a:ext>
            </a:extLst>
          </p:cNvPr>
          <p:cNvSpPr/>
          <p:nvPr/>
        </p:nvSpPr>
        <p:spPr>
          <a:xfrm>
            <a:off x="3778590" y="1111032"/>
            <a:ext cx="3882600" cy="48659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262" y="-44192"/>
            <a:ext cx="1802314" cy="851019"/>
          </a:xfrm>
          <a:prstGeom prst="rect">
            <a:avLst/>
          </a:prstGeom>
        </p:spPr>
      </p:pic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D723C3AF-CB6C-0CCC-AFE0-0169C862F2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24" y="3708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Berserk </a:t>
            </a:r>
          </a:p>
          <a:p>
            <a:pPr algn="ctr"/>
            <a:r>
              <a:rPr lang="en-US" b="1" dirty="0"/>
              <a:t>Techies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8C384C8-98C8-87A9-6565-4F2522DD08F2}"/>
              </a:ext>
            </a:extLst>
          </p:cNvPr>
          <p:cNvSpPr/>
          <p:nvPr/>
        </p:nvSpPr>
        <p:spPr>
          <a:xfrm>
            <a:off x="134433" y="1117075"/>
            <a:ext cx="3370767" cy="4965032"/>
          </a:xfrm>
          <a:prstGeom prst="roundRect">
            <a:avLst/>
          </a:prstGeom>
          <a:solidFill>
            <a:srgbClr val="C4FFA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F75E3-DEF6-3651-8A69-DED95A7FC488}"/>
              </a:ext>
            </a:extLst>
          </p:cNvPr>
          <p:cNvSpPr txBox="1"/>
          <p:nvPr/>
        </p:nvSpPr>
        <p:spPr>
          <a:xfrm>
            <a:off x="222665" y="1383599"/>
            <a:ext cx="328253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Feasibility</a:t>
            </a:r>
          </a:p>
          <a:p>
            <a:r>
              <a:rPr lang="en-IN" sz="1200" b="1" u="sng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Technology:</a:t>
            </a:r>
            <a:r>
              <a:rPr lang="en-IN" dirty="0"/>
              <a:t> Uses existing sensors, motors, and microcontrollers.</a:t>
            </a:r>
          </a:p>
          <a:p>
            <a:pPr lvl="0"/>
            <a:r>
              <a:rPr lang="en-IN" sz="800" dirty="0"/>
              <a:t> 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Design:</a:t>
            </a:r>
            <a:r>
              <a:rPr lang="en-IN" dirty="0"/>
              <a:t> Modular and adjustable exoskeleton structure is achievable. </a:t>
            </a:r>
          </a:p>
          <a:p>
            <a:pPr lvl="0"/>
            <a:endParaRPr lang="en-IN" sz="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Control:</a:t>
            </a:r>
            <a:r>
              <a:rPr lang="en-IN" dirty="0"/>
              <a:t> AAN can adapt assistance based on user movement.</a:t>
            </a:r>
          </a:p>
          <a:p>
            <a:pPr lvl="0"/>
            <a:endParaRPr lang="en-IN" sz="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Prototype:</a:t>
            </a:r>
            <a:r>
              <a:rPr lang="en-IN" dirty="0"/>
              <a:t> Can be developed and tested step-by-step using available components.</a:t>
            </a:r>
          </a:p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0684CC-065F-A4CC-C336-E9421DA82524}"/>
              </a:ext>
            </a:extLst>
          </p:cNvPr>
          <p:cNvSpPr txBox="1"/>
          <p:nvPr/>
        </p:nvSpPr>
        <p:spPr>
          <a:xfrm>
            <a:off x="3922510" y="1449890"/>
            <a:ext cx="3882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Viability</a:t>
            </a:r>
          </a:p>
          <a:p>
            <a:r>
              <a:rPr lang="en-IN" sz="1600" b="1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Cost-Effective:</a:t>
            </a:r>
            <a:r>
              <a:rPr lang="en-IN" dirty="0"/>
              <a:t> Uses commercially available components and a modular design. </a:t>
            </a:r>
          </a:p>
          <a:p>
            <a:pPr lvl="0"/>
            <a:r>
              <a:rPr lang="en-IN" sz="8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Practical:</a:t>
            </a:r>
            <a:r>
              <a:rPr lang="en-IN" dirty="0"/>
              <a:t> Suitable for controlled rehabilitation with therapist supervision. </a:t>
            </a:r>
          </a:p>
          <a:p>
            <a:pPr lvl="0"/>
            <a:r>
              <a:rPr lang="en-IN" sz="8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Scalable:</a:t>
            </a:r>
            <a:r>
              <a:rPr lang="en-IN" dirty="0"/>
              <a:t> Can be upgraded with more sensors, joints, and improved software. </a:t>
            </a:r>
          </a:p>
          <a:p>
            <a:pPr lvl="0"/>
            <a:r>
              <a:rPr lang="en-IN" sz="800" dirty="0"/>
              <a:t>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Accessible:</a:t>
            </a:r>
            <a:r>
              <a:rPr lang="en-IN" dirty="0"/>
              <a:t> Designed with future cost optimization and wider adoption in mind.</a:t>
            </a:r>
          </a:p>
          <a:p>
            <a:endParaRPr lang="en-IN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40036D8-EA8C-C236-1480-64E9A40D1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2" y="1081961"/>
            <a:ext cx="2867926" cy="516924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9B88A87A-EFE3-7478-ACE5-734BADE42FB6}"/>
              </a:ext>
            </a:extLst>
          </p:cNvPr>
          <p:cNvSpPr txBox="1"/>
          <p:nvPr/>
        </p:nvSpPr>
        <p:spPr>
          <a:xfrm>
            <a:off x="7852200" y="1081961"/>
            <a:ext cx="2527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Prototype :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7317E93-6516-FA70-1C36-57D7BDB51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417" y="1524782"/>
            <a:ext cx="3463172" cy="44005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DF511B62-8021-106B-DC90-7BDFA41B52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24" y="3708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Berserk </a:t>
            </a:r>
          </a:p>
          <a:p>
            <a:pPr algn="ctr"/>
            <a:r>
              <a:rPr lang="en-US" b="1" dirty="0"/>
              <a:t>Techies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5D395B-6C3D-E1DE-A6FE-110B212F2CAF}"/>
              </a:ext>
            </a:extLst>
          </p:cNvPr>
          <p:cNvSpPr txBox="1"/>
          <p:nvPr/>
        </p:nvSpPr>
        <p:spPr>
          <a:xfrm>
            <a:off x="7539789" y="1467853"/>
            <a:ext cx="4042611" cy="1961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1B52FDB-6354-D9AC-41B0-1C276525DA6A}"/>
              </a:ext>
            </a:extLst>
          </p:cNvPr>
          <p:cNvSpPr/>
          <p:nvPr/>
        </p:nvSpPr>
        <p:spPr>
          <a:xfrm>
            <a:off x="90467" y="1274506"/>
            <a:ext cx="4495800" cy="48293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9273D7-81CE-9255-2440-96EF7680595D}"/>
              </a:ext>
            </a:extLst>
          </p:cNvPr>
          <p:cNvSpPr txBox="1"/>
          <p:nvPr/>
        </p:nvSpPr>
        <p:spPr>
          <a:xfrm>
            <a:off x="425115" y="1363579"/>
            <a:ext cx="4042611" cy="5521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IMPACTS</a:t>
            </a:r>
          </a:p>
          <a:p>
            <a:endParaRPr lang="en-IN" sz="12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Patient-Centered:</a:t>
            </a:r>
            <a:r>
              <a:rPr lang="en-IN" dirty="0"/>
              <a:t> Supports the user's own movement.</a:t>
            </a:r>
          </a:p>
          <a:p>
            <a:r>
              <a:rPr lang="en-IN" sz="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Personalized:</a:t>
            </a:r>
            <a:r>
              <a:rPr lang="en-IN" dirty="0"/>
              <a:t> Assistance adapts to each user.</a:t>
            </a:r>
          </a:p>
          <a:p>
            <a:r>
              <a:rPr lang="en-IN" sz="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Progressive:</a:t>
            </a:r>
            <a:r>
              <a:rPr lang="en-IN" dirty="0"/>
              <a:t> Support can reduce as performance improves.</a:t>
            </a:r>
          </a:p>
          <a:p>
            <a:r>
              <a:rPr lang="en-IN" sz="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Safety-Focused:</a:t>
            </a:r>
            <a:r>
              <a:rPr lang="en-IN" dirty="0"/>
              <a:t> Monitors movement and limits unsafe actions.</a:t>
            </a:r>
          </a:p>
          <a:p>
            <a:r>
              <a:rPr lang="en-IN" sz="8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Accessible:</a:t>
            </a:r>
            <a:r>
              <a:rPr lang="en-IN" dirty="0"/>
              <a:t> Modular approach for future cost optimization.</a:t>
            </a:r>
          </a:p>
          <a:p>
            <a:r>
              <a:rPr lang="en-IN" sz="800" dirty="0"/>
              <a:t> 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Research Impact:</a:t>
            </a:r>
            <a:r>
              <a:rPr lang="en-IN" dirty="0"/>
              <a:t> Enables development of adaptive rehabilitation technology.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FB7FB-2E13-7B7A-275E-72C069DE41E1}"/>
              </a:ext>
            </a:extLst>
          </p:cNvPr>
          <p:cNvSpPr txBox="1"/>
          <p:nvPr/>
        </p:nvSpPr>
        <p:spPr>
          <a:xfrm>
            <a:off x="8149389" y="1733380"/>
            <a:ext cx="404261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BENEFITS </a:t>
            </a:r>
          </a:p>
          <a:p>
            <a:r>
              <a:rPr lang="en-IN" sz="1600" b="1" dirty="0"/>
              <a:t> </a:t>
            </a:r>
          </a:p>
          <a:p>
            <a:r>
              <a:rPr lang="en-IN" dirty="0"/>
              <a:t>• </a:t>
            </a:r>
            <a:r>
              <a:rPr lang="en-IN" b="1" dirty="0"/>
              <a:t>Improved Mobility</a:t>
            </a:r>
            <a:r>
              <a:rPr lang="en-IN" dirty="0"/>
              <a:t> — Supports better movement and gait.</a:t>
            </a:r>
          </a:p>
          <a:p>
            <a:r>
              <a:rPr lang="en-IN" sz="800" dirty="0"/>
              <a:t> 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Greater Independence</a:t>
            </a:r>
            <a:r>
              <a:rPr lang="en-IN" dirty="0"/>
              <a:t> — Encourages active patient participation.</a:t>
            </a:r>
          </a:p>
          <a:p>
            <a:r>
              <a:rPr lang="en-IN" sz="800" dirty="0"/>
              <a:t> 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Enhanced Safety</a:t>
            </a:r>
            <a:r>
              <a:rPr lang="en-IN" dirty="0"/>
              <a:t> — Provides monitoring and protective control.</a:t>
            </a:r>
          </a:p>
          <a:p>
            <a:r>
              <a:rPr lang="en-IN" sz="800" dirty="0"/>
              <a:t> 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Better Quality of Life</a:t>
            </a:r>
            <a:r>
              <a:rPr lang="en-IN" dirty="0"/>
              <a:t> — Supports functional recovery.</a:t>
            </a:r>
          </a:p>
          <a:p>
            <a:r>
              <a:rPr lang="en-IN" sz="800" dirty="0"/>
              <a:t> </a:t>
            </a:r>
            <a:br>
              <a:rPr lang="en-IN" dirty="0"/>
            </a:br>
            <a:r>
              <a:rPr lang="en-IN" dirty="0"/>
              <a:t>• </a:t>
            </a:r>
            <a:r>
              <a:rPr lang="en-IN" b="1" dirty="0"/>
              <a:t>Accessible Rehabilitation</a:t>
            </a:r>
            <a:r>
              <a:rPr lang="en-IN" dirty="0"/>
              <a:t> — Designed for wider future adoption.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36376" y="-625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B13F409-5FAD-75E1-4B36-2563A7E857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7624" y="37086"/>
            <a:ext cx="133187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Berserk </a:t>
            </a:r>
          </a:p>
          <a:p>
            <a:pPr algn="ctr"/>
            <a:r>
              <a:rPr lang="en-US" b="1" dirty="0"/>
              <a:t>Techies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F2B3D8-689B-2C53-F8A8-4711C9363356}"/>
              </a:ext>
            </a:extLst>
          </p:cNvPr>
          <p:cNvSpPr txBox="1"/>
          <p:nvPr/>
        </p:nvSpPr>
        <p:spPr>
          <a:xfrm>
            <a:off x="236377" y="1063837"/>
            <a:ext cx="117935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u="sng" dirty="0"/>
              <a:t>RESEARCH :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HAL (Cyberdyne):</a:t>
            </a:r>
            <a:r>
              <a:rPr lang="en-IN" dirty="0"/>
              <a:t> Uses bio-electric/EMG signals and powered joints to detect the user's movement intention and provide assistance. Approximate reported cost: </a:t>
            </a:r>
            <a:r>
              <a:rPr lang="en-IN" b="1" dirty="0"/>
              <a:t>₹47–95 lakh+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ReWalk:</a:t>
            </a:r>
            <a:r>
              <a:rPr lang="en-IN" dirty="0"/>
              <a:t> Uses tilt and motion sensors with powered hip and knee joints. The user's body movement and center-of-gravity shift can initiate walking. Approximate reported cost: </a:t>
            </a:r>
            <a:r>
              <a:rPr lang="en-IN" b="1" dirty="0"/>
              <a:t>₹67–95 lakh+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EksoNR:</a:t>
            </a:r>
            <a:r>
              <a:rPr lang="en-IN" dirty="0"/>
              <a:t> Uses movement sensing, powered joints and adaptive assistance to adjust support during rehabilitation. Approximate reported cost: </a:t>
            </a:r>
            <a:r>
              <a:rPr lang="en-IN" b="1" dirty="0"/>
              <a:t>₹57–76 lakh+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Indego:</a:t>
            </a:r>
            <a:r>
              <a:rPr lang="en-IN" dirty="0"/>
              <a:t> Uses IMU/motion sensing with powered hip and knee joints in a modular wearable design. Approximate reported cost: </a:t>
            </a:r>
            <a:r>
              <a:rPr lang="en-IN" b="1" dirty="0"/>
              <a:t>₹76–95 lakh+</a:t>
            </a:r>
            <a:r>
              <a:rPr lang="en-IN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Atalante X (Wandercraft):</a:t>
            </a:r>
            <a:r>
              <a:rPr lang="en-IN" dirty="0"/>
              <a:t> Uses </a:t>
            </a:r>
            <a:r>
              <a:rPr lang="en-IN" b="1" dirty="0"/>
              <a:t>12 motors, self-balancing control and multi-joint robotic assistance</a:t>
            </a:r>
            <a:r>
              <a:rPr lang="en-IN" dirty="0"/>
              <a:t> for hands-free overground rehabilitation. </a:t>
            </a:r>
            <a:r>
              <a:rPr lang="en-IN" b="1" dirty="0"/>
              <a:t>Price is not publicly listed.</a:t>
            </a:r>
            <a:endParaRPr lang="en-IN" dirty="0"/>
          </a:p>
          <a:p>
            <a:pPr lvl="0"/>
            <a:r>
              <a:rPr lang="en-IN" sz="2400" b="1" u="sng" dirty="0"/>
              <a:t>REFERENCES: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 Liancheng et al., 2026 </a:t>
            </a:r>
            <a:r>
              <a:rPr lang="en-IN" dirty="0"/>
              <a:t>— AAN + sensing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Foroutannia &amp; Mohammadian, 2025 </a:t>
            </a:r>
            <a:r>
              <a:rPr lang="en-IN" dirty="0"/>
              <a:t>— mechanics + dynamics + control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Baud et al., 2021 </a:t>
            </a:r>
            <a:r>
              <a:rPr lang="en-IN" dirty="0"/>
              <a:t>— control architecture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Sensor Technologies &amp; Control Strategies review, 2024 </a:t>
            </a:r>
            <a:r>
              <a:rPr lang="en-IN" dirty="0"/>
              <a:t>— sensors + rehabilitation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7965</TotalTime>
  <Words>781</Words>
  <Application>Microsoft Office PowerPoint</Application>
  <PresentationFormat>Widescreen</PresentationFormat>
  <Paragraphs>132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Cambria Math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Praveen Kumar</cp:lastModifiedBy>
  <cp:revision>155</cp:revision>
  <dcterms:created xsi:type="dcterms:W3CDTF">2013-12-12T18:46:50Z</dcterms:created>
  <dcterms:modified xsi:type="dcterms:W3CDTF">2026-09-10T07:46:56Z</dcterms:modified>
  <cp:category/>
</cp:coreProperties>
</file>